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10058400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CC5"/>
                </a:solidFill>
                <a:latin typeface="Aptos"/>
              </a:defRPr>
            </a:pPr>
            <a:r>
              <a:t>CSE620  |  DEEP LEARNING WITH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21207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5F8FB"/>
                </a:solidFill>
                <a:latin typeface="Aptos"/>
              </a:defRPr>
            </a:pPr>
            <a:r>
              <a:t>01   PROBLEM  /  Image classification at 32 ×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280160"/>
            <a:ext cx="1097280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EC1D4"/>
                </a:solidFill>
                <a:latin typeface="Aptos"/>
              </a:defRPr>
            </a:pPr>
            <a:r>
              <a:t>Can a Vision Transformer learn to recognize ten object categories from scratch?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01384"/>
            <a:ext cx="1005840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EC1D4"/>
                </a:solidFill>
                <a:latin typeface="Aptos"/>
              </a:defRPr>
            </a:pPr>
            <a:r>
              <a:t>Van Q. Phung  ·  Wanling Jiang  ·  October 21,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1DCC5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65376"/>
            <a:ext cx="6446520" cy="423367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.cse620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72860"/>
            <a:ext cx="6126480" cy="30998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843016"/>
            <a:ext cx="6217920" cy="2103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EC1D4"/>
                </a:solidFill>
                <a:latin typeface="Aptos"/>
              </a:defRPr>
            </a:pPr>
            <a:r>
              <a:t>Actual CIFAR-10 images and predictions from the executed live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47672"/>
            <a:ext cx="4297680" cy="950976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5783" y="2057400"/>
            <a:ext cx="4005072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1DCC5"/>
                </a:solidFill>
                <a:latin typeface="Aptos"/>
              </a:defRPr>
            </a:pPr>
            <a:r>
              <a:t>10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5783" y="2468879"/>
            <a:ext cx="400507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Airplanes, animals, vehicles, and more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108960"/>
            <a:ext cx="4297680" cy="950976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3" y="3218688"/>
            <a:ext cx="4005072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1DCC5"/>
                </a:solidFill>
                <a:latin typeface="Aptos"/>
              </a:defRPr>
            </a:pPr>
            <a:r>
              <a:t>32 × 32 pixels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3630168"/>
            <a:ext cx="400507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Fine details are difficult to distinguish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270248"/>
            <a:ext cx="4297680" cy="950976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4379976"/>
            <a:ext cx="4005072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1DCC5"/>
                </a:solidFill>
                <a:latin typeface="Aptos"/>
              </a:defRPr>
            </a:pPr>
            <a:r>
              <a:t>60,000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4791456"/>
            <a:ext cx="400507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45k train  ·  5k validation  ·  10k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577840"/>
            <a:ext cx="4114800" cy="5120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5F8FB"/>
                </a:solidFill>
                <a:latin typeface="Aptos"/>
              </a:defRPr>
            </a:pPr>
            <a:r>
              <a:t>Goal: build, evaluate, and demo a ViT in PyTorch.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10058400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CC5"/>
                </a:solidFill>
                <a:latin typeface="Aptos"/>
              </a:defRPr>
            </a:pPr>
            <a:r>
              <a:t>CSE620  |  DEEP LEARNING WITH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21207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5F8FB"/>
                </a:solidFill>
                <a:latin typeface="Aptos"/>
              </a:defRPr>
            </a:pPr>
            <a:r>
              <a:t>02   SOLUTION  /  A Vision Transformer built in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280160"/>
            <a:ext cx="1097280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EC1D4"/>
                </a:solidFill>
                <a:latin typeface="Aptos"/>
              </a:defRPr>
            </a:pPr>
            <a:r>
              <a:t>Patch embedding → attention-based feature learning → 10-class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01384"/>
            <a:ext cx="1005840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EC1D4"/>
                </a:solidFill>
                <a:latin typeface="Aptos"/>
              </a:defRPr>
            </a:pPr>
            <a:r>
              <a:t>Van Q. Phung  ·  Wanling Jiang  ·  October 21,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1DCC5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029200" cy="4343400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.cse620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676304"/>
            <a:ext cx="4736592" cy="24929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5916168"/>
            <a:ext cx="448056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EC1D4"/>
                </a:solidFill>
                <a:latin typeface="Aptos"/>
              </a:defRPr>
            </a:pPr>
            <a:r>
              <a:t>Actual patch-token visualization from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5584" y="1920240"/>
            <a:ext cx="5797296" cy="71323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993392"/>
            <a:ext cx="24231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32 × 32 RGB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2020824"/>
            <a:ext cx="292608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Input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5584" y="2852928"/>
            <a:ext cx="5797296" cy="71323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2926080"/>
            <a:ext cx="24231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64 patch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953512"/>
            <a:ext cx="292608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4 × 4 patches  ·  192-d 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3785615"/>
            <a:ext cx="5797296" cy="71323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858768"/>
            <a:ext cx="24231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65-token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886200"/>
            <a:ext cx="292608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Add learned [CLS]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5584" y="4718304"/>
            <a:ext cx="5797296" cy="71323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791456"/>
            <a:ext cx="24231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6 Transformer blocks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4818888"/>
            <a:ext cx="292608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6 attention heads  ·  MLP + residual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5584" y="5650992"/>
            <a:ext cx="5797296" cy="713232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5724144"/>
            <a:ext cx="24231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10-class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5751576"/>
            <a:ext cx="292608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AEC1D4"/>
                </a:solidFill>
                <a:latin typeface="Aptos"/>
              </a:defRPr>
            </a:pPr>
            <a:r>
              <a:t>[CLS] → classification 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10058400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CC5"/>
                </a:solidFill>
                <a:latin typeface="Aptos"/>
              </a:defRPr>
            </a:pPr>
            <a:r>
              <a:t>CSE620  |  DEEP LEARNING WITH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21207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5F8FB"/>
                </a:solidFill>
                <a:latin typeface="Aptos"/>
              </a:defRPr>
            </a:pPr>
            <a:r>
              <a:t>03   RESULTS  /  Verified performance on CIFAR-10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280160"/>
            <a:ext cx="1097280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EC1D4"/>
                </a:solidFill>
                <a:latin typeface="Aptos"/>
              </a:defRPr>
            </a:pPr>
            <a:r>
              <a:t>Results reproduced from the uploaded, executed Google Colab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01384"/>
            <a:ext cx="1005840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EC1D4"/>
                </a:solidFill>
                <a:latin typeface="Aptos"/>
              </a:defRPr>
            </a:pPr>
            <a:r>
              <a:t>Van Q. Phung  ·  Wanling Jiang  ·  October 21,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1DCC5"/>
                </a:solidFill>
                <a:latin typeface="Aptos"/>
              </a:defRPr>
            </a:pPr>
            <a: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9656"/>
            <a:ext cx="3300984" cy="1024128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301752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41DCC5"/>
                </a:solidFill>
                <a:latin typeface="Aptos"/>
              </a:defRPr>
            </a:pPr>
            <a:r>
              <a:t>79.91%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78024"/>
            <a:ext cx="301752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EC1D4"/>
                </a:solidFill>
                <a:latin typeface="Aptos"/>
              </a:defRPr>
            </a:pPr>
            <a:r>
              <a:t>TEST ACCURACY  ·  7,991 / 10,000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19656"/>
            <a:ext cx="3300984" cy="1024128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38528"/>
            <a:ext cx="301752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41DCC5"/>
                </a:solidFill>
                <a:latin typeface="Aptos"/>
              </a:defRPr>
            </a:pPr>
            <a:r>
              <a:t>79.22%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78024"/>
            <a:ext cx="301752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EC1D4"/>
                </a:solidFill>
                <a:latin typeface="Aptos"/>
              </a:defRPr>
            </a:pPr>
            <a:r>
              <a:t>BEST VALIDATION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1819656"/>
            <a:ext cx="3300984" cy="1024128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938528"/>
            <a:ext cx="301752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41DCC5"/>
                </a:solidFill>
                <a:latin typeface="Aptos"/>
              </a:defRPr>
            </a:pPr>
            <a:r>
              <a:t>2.69M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478024"/>
            <a:ext cx="301752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EC1D4"/>
                </a:solidFill>
                <a:latin typeface="Aptos"/>
              </a:defRPr>
            </a:pPr>
            <a:r>
              <a:t>TRAINABLE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17520"/>
            <a:ext cx="5897880" cy="3191256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.cse620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04" y="3145536"/>
            <a:ext cx="3318295" cy="293522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65976" y="3017520"/>
            <a:ext cx="4965192" cy="3191256"/>
          </a:xfrm>
          <a:prstGeom prst="roundRect">
            <a:avLst/>
          </a:prstGeom>
          <a:solidFill>
            <a:srgbClr val="18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3255264"/>
            <a:ext cx="4498848" cy="31089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5F8FB"/>
                </a:solidFill>
                <a:latin typeface="Aptos"/>
              </a:defRPr>
            </a:pPr>
            <a:r>
              <a:t>What the evaluation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776472"/>
            <a:ext cx="4343400" cy="11430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t>Best recall: automobile 89.8%</a:t>
            </a:r>
          </a:p>
          <a:p>
            <a:pPr>
              <a:spcAft>
                <a:spcPts val="9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t>Lowest recall: cat 56.9%</a:t>
            </a:r>
          </a:p>
          <a:p>
            <a:pPr>
              <a:spcAft>
                <a:spcPts val="9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t>Top error: cat → dog (184)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5166360"/>
            <a:ext cx="4297680" cy="7498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LIVE DEMO VERIFIED</a:t>
            </a:r>
          </a:p>
          <a:p>
            <a:pPr>
              <a:spcAft>
                <a:spcPts val="900"/>
              </a:spcAft>
              <a:defRPr sz="1700" b="1">
                <a:solidFill>
                  <a:srgbClr val="41DCC5"/>
                </a:solidFill>
                <a:latin typeface="Aptos"/>
              </a:defRPr>
            </a:pPr>
            <a:r>
              <a:t>6/8 correct  ·  2.0 s  ·  CUDA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